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25265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52659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252659"/>
          </a:solidFill>
          <a:ln/>
        </p:spPr>
      </p:sp>
      <p:pic>
        <p:nvPicPr>
          <p:cNvPr id="5" name="Image 0" descr="icon_brain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AI is, where it came from, and how it shapes the world around us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4709160"/>
            <a:ext cx="914400" cy="0"/>
          </a:xfrm>
          <a:prstGeom prst="line">
            <a:avLst/>
          </a:prstGeom>
          <a:noFill/>
          <a:ln w="38100">
            <a:solidFill>
              <a:srgbClr val="00D9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 ·  History of AI  ·  AI in Everyday Life  ·  AI vs ML vs DL vs GenAI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is the branch of computer science focused on building systems that can perform tasks which normally require human intelligence — reasoning, learning, perceiving, and making decisions.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</p:sp>
      <p:pic>
        <p:nvPicPr>
          <p:cNvPr id="6" name="Image 0" descr="icon_bra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3192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3154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34564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performance from data and experience over time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</p:sp>
      <p:pic>
        <p:nvPicPr>
          <p:cNvPr id="10" name="Image 1" descr="icon_lightbulb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3250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8679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80160" y="416966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conclusions and solves problems from available information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626864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</p:sp>
      <p:pic>
        <p:nvPicPr>
          <p:cNvPr id="14" name="Image 2" descr="icon_camera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74573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5811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80160" y="488289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images, sound, and language from the real world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5340096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</p:sp>
      <p:pic>
        <p:nvPicPr>
          <p:cNvPr id="18" name="Image 3" descr="icon_ches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45896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52943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80160" y="55961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actions to reach a goal, even under uncertainty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720840" y="640080"/>
            <a:ext cx="4846320" cy="5577840"/>
          </a:xfrm>
          <a:prstGeom prst="roundRect">
            <a:avLst>
              <a:gd name="adj" fmla="val 2264"/>
            </a:avLst>
          </a:prstGeom>
          <a:solidFill>
            <a:srgbClr val="191A3D"/>
          </a:solidFill>
          <a:ln/>
        </p:spPr>
      </p:sp>
      <p:sp>
        <p:nvSpPr>
          <p:cNvPr id="22" name="Shape 16"/>
          <p:cNvSpPr/>
          <p:nvPr/>
        </p:nvSpPr>
        <p:spPr>
          <a:xfrm>
            <a:off x="9966960" y="5394960"/>
            <a:ext cx="2194560" cy="2194560"/>
          </a:xfrm>
          <a:prstGeom prst="ellipse">
            <a:avLst/>
          </a:prstGeom>
          <a:solidFill>
            <a:srgbClr val="252659"/>
          </a:solidFill>
          <a:ln/>
        </p:spPr>
      </p:sp>
      <p:sp>
        <p:nvSpPr>
          <p:cNvPr id="23" name="Text 17"/>
          <p:cNvSpPr/>
          <p:nvPr/>
        </p:nvSpPr>
        <p:spPr>
          <a:xfrm>
            <a:off x="717804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WAY TO THINK ABOUT IT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178040" y="1463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systems take in data, find patterns, and act — the same way a person senses, thinks, and responds.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7178040" y="28346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252659"/>
          </a:solidFill>
          <a:ln w="12700">
            <a:solidFill>
              <a:srgbClr val="3A3C7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60920" y="28346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006840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7178040" y="37947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252659"/>
          </a:solidFill>
          <a:ln w="12700">
            <a:solidFill>
              <a:srgbClr val="3A3C7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360920" y="3794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Found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006840" y="4434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7178040" y="47548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252659"/>
          </a:solidFill>
          <a:ln w="12700">
            <a:solidFill>
              <a:srgbClr val="3A3C7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360920" y="4754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decades from theoretical foundations to everyday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3977640"/>
            <a:ext cx="10652760" cy="0"/>
          </a:xfrm>
          <a:prstGeom prst="line">
            <a:avLst/>
          </a:prstGeom>
          <a:noFill/>
          <a:ln w="25400">
            <a:solidFill>
              <a:srgbClr val="C9CB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3895344"/>
            <a:ext cx="164592" cy="164592"/>
          </a:xfrm>
          <a:prstGeom prst="ellipse">
            <a:avLst/>
          </a:prstGeom>
          <a:solidFill>
            <a:srgbClr val="00D9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657600"/>
            <a:ext cx="0" cy="320040"/>
          </a:xfrm>
          <a:prstGeom prst="line">
            <a:avLst/>
          </a:prstGeom>
          <a:noFill/>
          <a:ln w="19050">
            <a:solidFill>
              <a:srgbClr val="C9CBE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" y="22402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CBE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331720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26243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2898648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proposes a test for machine intelligence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25496" y="3895344"/>
            <a:ext cx="164592" cy="164592"/>
          </a:xfrm>
          <a:prstGeom prst="ellipse">
            <a:avLst/>
          </a:prstGeom>
          <a:solidFill>
            <a:srgbClr val="00D9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07792" y="3977640"/>
            <a:ext cx="0" cy="320040"/>
          </a:xfrm>
          <a:prstGeom prst="line">
            <a:avLst/>
          </a:prstGeom>
          <a:noFill/>
          <a:ln w="19050">
            <a:solidFill>
              <a:srgbClr val="C9CBE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993392" y="42976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CBE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03120" y="4389120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03120" y="46817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Founded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03120" y="4956048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“Artificial Intelligence” coined at Dartmouth Conference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56048" y="3895344"/>
            <a:ext cx="164592" cy="164592"/>
          </a:xfrm>
          <a:prstGeom prst="ellipse">
            <a:avLst/>
          </a:prstGeom>
          <a:solidFill>
            <a:srgbClr val="00D9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38344" y="3657600"/>
            <a:ext cx="0" cy="320040"/>
          </a:xfrm>
          <a:prstGeom prst="line">
            <a:avLst/>
          </a:prstGeom>
          <a:noFill/>
          <a:ln w="19050">
            <a:solidFill>
              <a:srgbClr val="C9CBE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123944" y="22402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CBE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33672" y="2331720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33672" y="26243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33672" y="2898648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chess computer defeats world champion Kasparov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3895344"/>
            <a:ext cx="164592" cy="164592"/>
          </a:xfrm>
          <a:prstGeom prst="ellipse">
            <a:avLst/>
          </a:prstGeom>
          <a:solidFill>
            <a:srgbClr val="00D9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68896" y="3977640"/>
            <a:ext cx="0" cy="320040"/>
          </a:xfrm>
          <a:prstGeom prst="line">
            <a:avLst/>
          </a:prstGeom>
          <a:noFill/>
          <a:ln w="19050">
            <a:solidFill>
              <a:srgbClr val="C9CBE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54496" y="42976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CBE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64224" y="4389120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64224" y="46817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64224" y="4956048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wins Jeopardy! against top human champions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217152" y="3895344"/>
            <a:ext cx="164592" cy="164592"/>
          </a:xfrm>
          <a:prstGeom prst="ellipse">
            <a:avLst/>
          </a:prstGeom>
          <a:solidFill>
            <a:srgbClr val="00D9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99448" y="3657600"/>
            <a:ext cx="0" cy="320040"/>
          </a:xfrm>
          <a:prstGeom prst="line">
            <a:avLst/>
          </a:prstGeom>
          <a:noFill/>
          <a:ln w="19050">
            <a:solidFill>
              <a:srgbClr val="C9CBE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385048" y="22402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CBE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494776" y="2331720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94776" y="26243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Boom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94776" y="2898648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drive breakthroughs in image recognition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347704" y="3895344"/>
            <a:ext cx="164592" cy="164592"/>
          </a:xfrm>
          <a:prstGeom prst="ellipse">
            <a:avLst/>
          </a:prstGeom>
          <a:solidFill>
            <a:srgbClr val="00D9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0" y="3977640"/>
            <a:ext cx="0" cy="320040"/>
          </a:xfrm>
          <a:prstGeom prst="line">
            <a:avLst/>
          </a:prstGeom>
          <a:noFill/>
          <a:ln w="19050">
            <a:solidFill>
              <a:srgbClr val="C9CBE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9994392" y="42976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A8CBE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104120" y="4389120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2022+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104120" y="46817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104120" y="4956048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and similar tools bring AI to daily life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Everyday Life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already works quietly behind many things we use every 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2FA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404872"/>
            <a:ext cx="566928" cy="566928"/>
          </a:xfrm>
          <a:prstGeom prst="ellipse">
            <a:avLst/>
          </a:prstGeom>
          <a:solidFill>
            <a:srgbClr val="191A3D"/>
          </a:solidFill>
          <a:ln/>
        </p:spPr>
      </p:sp>
      <p:pic>
        <p:nvPicPr>
          <p:cNvPr id="7" name="Image 0" descr="icon_mic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5328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6324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338328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Alexa, and Google Assistant understand and respond to speech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2FA"/>
          </a:solidFill>
          <a:ln/>
        </p:spPr>
      </p:sp>
      <p:sp>
        <p:nvSpPr>
          <p:cNvPr id="11" name="Shape 8"/>
          <p:cNvSpPr/>
          <p:nvPr/>
        </p:nvSpPr>
        <p:spPr>
          <a:xfrm>
            <a:off x="4645152" y="2404872"/>
            <a:ext cx="566928" cy="566928"/>
          </a:xfrm>
          <a:prstGeom prst="ellipse">
            <a:avLst/>
          </a:prstGeom>
          <a:solidFill>
            <a:srgbClr val="191A3D"/>
          </a:solidFill>
          <a:ln/>
        </p:spPr>
      </p:sp>
      <p:pic>
        <p:nvPicPr>
          <p:cNvPr id="12" name="Image 1" descr="icon_car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53288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306324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45152" y="338328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and shopping apps suggest what you might like next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2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394192" y="2404872"/>
            <a:ext cx="566928" cy="566928"/>
          </a:xfrm>
          <a:prstGeom prst="ellipse">
            <a:avLst/>
          </a:prstGeom>
          <a:solidFill>
            <a:srgbClr val="191A3D"/>
          </a:solidFill>
          <a:ln/>
        </p:spPr>
      </p:sp>
      <p:pic>
        <p:nvPicPr>
          <p:cNvPr id="17" name="Image 2" descr="icon_map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53288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06324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94192" y="338328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predict traffic and find the fastest route in real time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3434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2FA"/>
          </a:solidFill>
          <a:ln/>
        </p:spPr>
      </p:sp>
      <p:sp>
        <p:nvSpPr>
          <p:cNvPr id="21" name="Shape 16"/>
          <p:cNvSpPr/>
          <p:nvPr/>
        </p:nvSpPr>
        <p:spPr>
          <a:xfrm>
            <a:off x="896112" y="4599432"/>
            <a:ext cx="566928" cy="566928"/>
          </a:xfrm>
          <a:prstGeom prst="ellipse">
            <a:avLst/>
          </a:prstGeom>
          <a:solidFill>
            <a:srgbClr val="191A3D"/>
          </a:solidFill>
          <a:ln/>
        </p:spPr>
      </p:sp>
      <p:pic>
        <p:nvPicPr>
          <p:cNvPr id="22" name="Image 3" descr="icon_camera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72744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525780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96112" y="557784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and photo apps identify and tag faces automatically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0" y="43434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2FA"/>
          </a:solidFill>
          <a:ln/>
        </p:spPr>
      </p:sp>
      <p:sp>
        <p:nvSpPr>
          <p:cNvPr id="26" name="Shape 20"/>
          <p:cNvSpPr/>
          <p:nvPr/>
        </p:nvSpPr>
        <p:spPr>
          <a:xfrm>
            <a:off x="4645152" y="4599432"/>
            <a:ext cx="566928" cy="566928"/>
          </a:xfrm>
          <a:prstGeom prst="ellipse">
            <a:avLst/>
          </a:prstGeom>
          <a:solidFill>
            <a:srgbClr val="191A3D"/>
          </a:solidFill>
          <a:ln/>
        </p:spPr>
      </p:sp>
      <p:pic>
        <p:nvPicPr>
          <p:cNvPr id="27" name="Image 4" descr="icon_comments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727448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45152" y="525780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45152" y="557784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chats answer questions instantly, day or night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43434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2FA"/>
          </a:solidFill>
          <a:ln/>
        </p:spPr>
      </p:sp>
      <p:sp>
        <p:nvSpPr>
          <p:cNvPr id="31" name="Shape 24"/>
          <p:cNvSpPr/>
          <p:nvPr/>
        </p:nvSpPr>
        <p:spPr>
          <a:xfrm>
            <a:off x="8394192" y="4599432"/>
            <a:ext cx="566928" cy="566928"/>
          </a:xfrm>
          <a:prstGeom prst="ellipse">
            <a:avLst/>
          </a:prstGeom>
          <a:solidFill>
            <a:srgbClr val="191A3D"/>
          </a:solidFill>
          <a:ln/>
        </p:spPr>
      </p:sp>
      <p:pic>
        <p:nvPicPr>
          <p:cNvPr id="32" name="Image 5" descr="icon_envelope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727448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94192" y="525780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94192" y="557784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inboxes quietly sort out junk and phishing messages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 Machine Learning vs Deep Learning vs Generative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 describes a smaller, more specialized idea nested inside the last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2103120"/>
            <a:ext cx="4663440" cy="4663440"/>
          </a:xfrm>
          <a:prstGeom prst="ellipse">
            <a:avLst/>
          </a:prstGeom>
          <a:solidFill>
            <a:srgbClr val="252659"/>
          </a:solidFill>
          <a:ln w="19050">
            <a:solidFill>
              <a:srgbClr val="1A1B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2651760"/>
            <a:ext cx="3566160" cy="3566160"/>
          </a:xfrm>
          <a:prstGeom prst="ellipse">
            <a:avLst/>
          </a:prstGeom>
          <a:solidFill>
            <a:srgbClr val="313374"/>
          </a:solidFill>
          <a:ln w="19050">
            <a:solidFill>
              <a:srgbClr val="1A1B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3200400"/>
            <a:ext cx="2468880" cy="2468880"/>
          </a:xfrm>
          <a:prstGeom prst="ellipse">
            <a:avLst/>
          </a:prstGeom>
          <a:solidFill>
            <a:srgbClr val="3F428C"/>
          </a:solidFill>
          <a:ln w="19050">
            <a:solidFill>
              <a:srgbClr val="1A1B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90672" y="3776472"/>
            <a:ext cx="1316736" cy="1316736"/>
          </a:xfrm>
          <a:prstGeom prst="ellipse">
            <a:avLst/>
          </a:prstGeom>
          <a:solidFill>
            <a:srgbClr val="00D9C0"/>
          </a:solidFill>
          <a:ln w="19050">
            <a:solidFill>
              <a:srgbClr val="1A1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286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6596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1460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90672" y="429768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pic>
        <p:nvPicPr>
          <p:cNvPr id="13" name="Image 0" descr="icon_brain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993392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6092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360920" y="225856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B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science of making machines act intelligently — the umbrella over everything else here.</a:t>
            </a:r>
            <a:endParaRPr lang="en-US" sz="1050" dirty="0"/>
          </a:p>
        </p:txBody>
      </p:sp>
      <p:pic>
        <p:nvPicPr>
          <p:cNvPr id="16" name="Image 1" descr="icon_char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304495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2971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360920" y="331012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B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AI where systems learn patterns from data instead of following fixed rules.</a:t>
            </a:r>
            <a:endParaRPr lang="en-US" sz="1050" dirty="0"/>
          </a:p>
        </p:txBody>
      </p:sp>
      <p:pic>
        <p:nvPicPr>
          <p:cNvPr id="19" name="Image 2" descr="icon_layers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09651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60920" y="4023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360920" y="436168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B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ML using layered neural networks to learn from very large, complex datasets.</a:t>
            </a:r>
            <a:endParaRPr lang="en-US" sz="1050" dirty="0"/>
          </a:p>
        </p:txBody>
      </p:sp>
      <p:pic>
        <p:nvPicPr>
          <p:cNvPr id="22" name="Image 3" descr="icon_magic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514807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5074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60920" y="54132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B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Deep Learning that creates new text, images, audio, or code rather than just analyzing it.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25265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252659"/>
          </a:solidFill>
          <a:ln/>
        </p:spPr>
      </p:sp>
      <p:pic>
        <p:nvPicPr>
          <p:cNvPr id="4" name="Image 0" descr="icon_robo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a tool built by people,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" y="3840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people — and understanding it starts here.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2026-08-04T04:09:37Z</dcterms:created>
  <dcterms:modified xsi:type="dcterms:W3CDTF">2026-08-04T04:09:37Z</dcterms:modified>
</cp:coreProperties>
</file>