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52659"/>
          </a:solidFill>
          <a:ln/>
        </p:spPr>
      </p:sp>
      <p:pic>
        <p:nvPicPr>
          <p:cNvPr id="5" name="Image 0" descr="icon_databas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Data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facts become organized, storable, and analyzable information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4709160"/>
            <a:ext cx="914400" cy="0"/>
          </a:xfrm>
          <a:prstGeom prst="line">
            <a:avLst/>
          </a:prstGeom>
          <a:noFill/>
          <a:ln w="38100">
            <a:solidFill>
              <a:srgbClr val="00D9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 ·  Structured vs Unstructured  ·  Databases  ·  Data Warehouse  ·  OLTP vs OLAP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collection of raw facts, figures, and symbols — numbers, words, measurements, observations — that on their own carry no meaning until they are organized and interpreted.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6" name="Image 0" descr="icon_filecsv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192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3154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34564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quantities, measurements, and statistics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10" name="Image 1" descr="icon_filea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3250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8679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416966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descriptions, documents, and messages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14" name="Image 2" descr="icon_ima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4573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5811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Media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48828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audio clips, and video recordings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F1F2FA"/>
          </a:solidFill>
          <a:ln/>
        </p:spPr>
      </p:sp>
      <p:pic>
        <p:nvPicPr>
          <p:cNvPr id="18" name="Image 3" descr="icon_projec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4589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52943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55961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location, and machine signals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20840" y="640080"/>
            <a:ext cx="4846320" cy="5577840"/>
          </a:xfrm>
          <a:prstGeom prst="roundRect">
            <a:avLst>
              <a:gd name="adj" fmla="val 2264"/>
            </a:avLst>
          </a:prstGeom>
          <a:solidFill>
            <a:srgbClr val="191A3D"/>
          </a:solidFill>
          <a:ln/>
        </p:spPr>
      </p:sp>
      <p:sp>
        <p:nvSpPr>
          <p:cNvPr id="22" name="Shape 16"/>
          <p:cNvSpPr/>
          <p:nvPr/>
        </p:nvSpPr>
        <p:spPr>
          <a:xfrm>
            <a:off x="9966960" y="5394960"/>
            <a:ext cx="2194560" cy="219456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23" name="Text 17"/>
          <p:cNvSpPr/>
          <p:nvPr/>
        </p:nvSpPr>
        <p:spPr>
          <a:xfrm>
            <a:off x="717804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INFORMATION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78040" y="1463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becomes information once it is processed and given context that makes it useful.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7178040" y="28346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2659"/>
          </a:solidFill>
          <a:ln w="12700">
            <a:solidFill>
              <a:srgbClr val="3A3C7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360920" y="2834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0684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7178040" y="3794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2659"/>
          </a:solidFill>
          <a:ln w="12700">
            <a:solidFill>
              <a:srgbClr val="3A3C7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36092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006840" y="4434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178040" y="47548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252659"/>
          </a:solidFill>
          <a:ln w="12700">
            <a:solidFill>
              <a:srgbClr val="3A3C7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360920" y="47548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178040" y="5623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"72" is data. "72°F outside today" is 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vs Unstructured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ends of how data is organized — and stored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A8CBE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621792" cy="621792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7" name="Image 0" descr="icon_tabl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4323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63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987552" y="3621024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0" name="Text 7"/>
          <p:cNvSpPr/>
          <p:nvPr/>
        </p:nvSpPr>
        <p:spPr>
          <a:xfrm>
            <a:off x="1207008" y="349300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fixed rows and columns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87552" y="4059936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9"/>
          <p:cNvSpPr/>
          <p:nvPr/>
        </p:nvSpPr>
        <p:spPr>
          <a:xfrm>
            <a:off x="1207008" y="39319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predefined schema or model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87552" y="4498848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008" y="437083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search, sort, and query with SQL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87552" y="4937760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6" name="Text 13"/>
          <p:cNvSpPr/>
          <p:nvPr/>
        </p:nvSpPr>
        <p:spPr>
          <a:xfrm>
            <a:off x="1207008" y="480974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spreadsheets, SQL databases, invoices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196596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191A3D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286000"/>
            <a:ext cx="621792" cy="621792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9" name="Image 1" descr="icon_filea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432304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3063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Data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656832" y="3621024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2" name="Text 18"/>
          <p:cNvSpPr/>
          <p:nvPr/>
        </p:nvSpPr>
        <p:spPr>
          <a:xfrm>
            <a:off x="6876288" y="349300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predefined format or structure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56832" y="4059936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4" name="Text 20"/>
          <p:cNvSpPr/>
          <p:nvPr/>
        </p:nvSpPr>
        <p:spPr>
          <a:xfrm>
            <a:off x="6876288" y="39319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largely as-is: text, images, video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656832" y="4498848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6" name="Text 22"/>
          <p:cNvSpPr/>
          <p:nvPr/>
        </p:nvSpPr>
        <p:spPr>
          <a:xfrm>
            <a:off x="6876288" y="437083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specialized tools to search or analyze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656832" y="4937760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8" name="Text 24"/>
          <p:cNvSpPr/>
          <p:nvPr/>
        </p:nvSpPr>
        <p:spPr>
          <a:xfrm>
            <a:off x="6876288" y="480974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emails, photos, social posts, videos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0080" y="553212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DEF2"/>
            </a:solidFill>
            <a:prstDash val="solid"/>
          </a:ln>
        </p:spPr>
      </p:sp>
      <p:pic>
        <p:nvPicPr>
          <p:cNvPr id="30" name="Image 2" descr="icon_cod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742432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71600" y="5532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between: Semi-structured data  </a:t>
            </a:r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organizational tags or markers (like JSON or XML) but no rigid schema — flexible, yet still searchable.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organized collection of data, built for easy storage, access, and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1F2F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621792" cy="621792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7" name="Image 0" descr="icon_tabl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61518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46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(SQL)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57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tables with fixed rows and columns, linked together through shared keys.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4709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 that need consistency — orders, accounts, transactions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5212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5486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PostgreSQL · Oracle · SQL Server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21488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1F2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629400" y="2468880"/>
            <a:ext cx="621792" cy="621792"/>
          </a:xfrm>
          <a:prstGeom prst="ellipse">
            <a:avLst/>
          </a:prstGeom>
          <a:solidFill>
            <a:srgbClr val="191A3D"/>
          </a:solidFill>
          <a:ln/>
        </p:spPr>
      </p:sp>
      <p:pic>
        <p:nvPicPr>
          <p:cNvPr id="16" name="Image 1" descr="icon_laye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615184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29400" y="3246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Non-Relational (NoSQL)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629400" y="3657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flexibly — as documents, key-value pairs, or graphs — without a fixed schema.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629400" y="44348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629400" y="4709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Fast-changing or varied data at large scale — user profiles, catalogs, content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629400" y="5212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629400" y="5486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Redis · Cassandra · DynamoDB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home for integrated data, built for analysis rather than daily transactions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warehouse pulls data from many separate systems, cleans and combines it, and stores it in one place — optimized for reporting, dashboards, and long-term analysis.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" y="32918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252659"/>
          </a:solidFill>
          <a:ln/>
        </p:spPr>
      </p:sp>
      <p:pic>
        <p:nvPicPr>
          <p:cNvPr id="7" name="Image 0" descr="icon_databas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3675888"/>
            <a:ext cx="457200" cy="457200"/>
          </a:xfrm>
          <a:prstGeom prst="rect">
            <a:avLst/>
          </a:prstGeom>
        </p:spPr>
      </p:pic>
      <p:pic>
        <p:nvPicPr>
          <p:cNvPr id="8" name="Image 1" descr="icon_filecsv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16" y="3675888"/>
            <a:ext cx="457200" cy="457200"/>
          </a:xfrm>
          <a:prstGeom prst="rect">
            <a:avLst/>
          </a:prstGeom>
        </p:spPr>
      </p:pic>
      <p:pic>
        <p:nvPicPr>
          <p:cNvPr id="9" name="Image 2" descr="icon_clou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708" y="3675888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8096" y="4434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68096" y="48280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Files · Cloud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008376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3511296" y="32918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252659"/>
          </a:solidFill>
          <a:ln/>
        </p:spPr>
      </p:sp>
      <p:pic>
        <p:nvPicPr>
          <p:cNvPr id="14" name="Image 3" descr="icon_filter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3611880"/>
            <a:ext cx="585216" cy="5852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02736" y="4434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602736" y="48280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Transform · Load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843016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6345936" y="32918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00D9C0"/>
          </a:solidFill>
          <a:ln/>
        </p:spPr>
      </p:sp>
      <p:pic>
        <p:nvPicPr>
          <p:cNvPr id="19" name="Image 4" descr="icon_warehous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3611880"/>
            <a:ext cx="585216" cy="5852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37376" y="4434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9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437376" y="48280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&amp; organized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8677656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9180576" y="329184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252659"/>
          </a:solidFill>
          <a:ln/>
        </p:spPr>
      </p:sp>
      <p:pic>
        <p:nvPicPr>
          <p:cNvPr id="24" name="Image 5" descr="icon_chartbar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3611880"/>
            <a:ext cx="585216" cy="5852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272016" y="4434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Reports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9272016" y="482803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· Insights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single database, a warehouse is built for asking big questions across years of combined data — not for running today's transactions.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 vs OLAP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jobs data systems are built to 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91A3D"/>
          </a:solidFill>
          <a:ln/>
        </p:spPr>
      </p:sp>
      <p:pic>
        <p:nvPicPr>
          <p:cNvPr id="6" name="Image 0" descr="icon_bol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1671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OLTP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16052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 Processing)</a:t>
            </a:r>
            <a:endParaRPr lang="en-US" sz="950" dirty="0"/>
          </a:p>
        </p:txBody>
      </p:sp>
      <p:pic>
        <p:nvPicPr>
          <p:cNvPr id="9" name="Image 1" descr="icon_chartpi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16712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38160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OLAP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13816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(Analytical Processing)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2743200"/>
            <a:ext cx="109270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27432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57600" y="27432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day-to-day operations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635240" y="2743200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trends over time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01568"/>
            <a:ext cx="10927080" cy="658368"/>
          </a:xfrm>
          <a:prstGeom prst="rect">
            <a:avLst/>
          </a:prstGeom>
          <a:solidFill>
            <a:srgbClr val="E7E9F7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34015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57600" y="340156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detailed records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635240" y="340156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aggregated data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4059936"/>
            <a:ext cx="109270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914400" y="405993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657600" y="405993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inserts &amp; updates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635240" y="405993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read-heavy queries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" y="4718304"/>
            <a:ext cx="10927080" cy="658368"/>
          </a:xfrm>
          <a:prstGeom prst="rect">
            <a:avLst/>
          </a:prstGeom>
          <a:solidFill>
            <a:srgbClr val="E7E9F7"/>
          </a:solidFill>
          <a:ln/>
        </p:spPr>
      </p:sp>
      <p:sp>
        <p:nvSpPr>
          <p:cNvPr id="25" name="Text 21"/>
          <p:cNvSpPr/>
          <p:nvPr/>
        </p:nvSpPr>
        <p:spPr>
          <a:xfrm>
            <a:off x="914400" y="471830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657600" y="4718304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per transaction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635240" y="4718304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minutes per query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0080" y="5376672"/>
            <a:ext cx="1092708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914400" y="53766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3657600" y="537667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checkout, booking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635240" y="537667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dashboards, forecasting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40080" y="1965960"/>
            <a:ext cx="10927080" cy="4069080"/>
          </a:xfrm>
          <a:prstGeom prst="rect">
            <a:avLst/>
          </a:prstGeom>
          <a:ln w="12700">
            <a:solidFill>
              <a:srgbClr val="D3D5E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25265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252659"/>
          </a:solidFill>
          <a:ln/>
        </p:spPr>
      </p:sp>
      <p:pic>
        <p:nvPicPr>
          <p:cNvPr id="4" name="Image 0" descr="icon_databas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only becomes valuable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2743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it's organized, stored, and understood.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04672" y="3767328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6301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raw facts — information is data with context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4672" y="4187952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050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fits neat tables; unstructured data doesn't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" y="4608576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4714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store data; warehouses integrate it for analysis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" y="5029200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runs transactions; OLAP powers analysis and reporting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2026-08-04T04:15:26Z</dcterms:created>
  <dcterms:modified xsi:type="dcterms:W3CDTF">2026-08-04T04:15:26Z</dcterms:modified>
</cp:coreProperties>
</file>